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1"/>
  </p:sldMasterIdLst>
  <p:sldIdLst>
    <p:sldId id="256" r:id="rId2"/>
    <p:sldId id="257" r:id="rId3"/>
    <p:sldId id="258" r:id="rId4"/>
    <p:sldId id="265" r:id="rId5"/>
    <p:sldId id="276" r:id="rId6"/>
    <p:sldId id="275" r:id="rId7"/>
    <p:sldId id="274" r:id="rId8"/>
    <p:sldId id="259" r:id="rId9"/>
    <p:sldId id="266" r:id="rId10"/>
    <p:sldId id="277" r:id="rId11"/>
    <p:sldId id="278" r:id="rId12"/>
    <p:sldId id="260" r:id="rId13"/>
    <p:sldId id="267" r:id="rId14"/>
    <p:sldId id="269" r:id="rId15"/>
    <p:sldId id="273" r:id="rId16"/>
    <p:sldId id="270" r:id="rId17"/>
    <p:sldId id="272" r:id="rId18"/>
    <p:sldId id="271" r:id="rId19"/>
    <p:sldId id="261" r:id="rId20"/>
    <p:sldId id="263" r:id="rId21"/>
    <p:sldId id="264" r:id="rId22"/>
    <p:sldId id="262" r:id="rId23"/>
    <p:sldId id="26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1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AB8E1C-C6B6-421C-8E2E-5060C5E9A7D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2885B6D-3876-4D72-8F23-D8E5D2289DB5}">
      <dgm:prSet phldrT="[Texto]"/>
      <dgm:spPr/>
      <dgm:t>
        <a:bodyPr/>
        <a:lstStyle/>
        <a:p>
          <a:r>
            <a:rPr lang="es-ES" dirty="0"/>
            <a:t>3. Pulsa botón “Iniciar sesión”</a:t>
          </a:r>
        </a:p>
      </dgm:t>
    </dgm:pt>
    <dgm:pt modelId="{F0FFCE78-26D1-43C7-9D0C-3758CEADDDED}" type="parTrans" cxnId="{B00ACBF1-70A1-4698-A934-8D86AE39C9BC}">
      <dgm:prSet/>
      <dgm:spPr/>
      <dgm:t>
        <a:bodyPr/>
        <a:lstStyle/>
        <a:p>
          <a:endParaRPr lang="es-ES"/>
        </a:p>
      </dgm:t>
    </dgm:pt>
    <dgm:pt modelId="{2485DD2F-76E1-4F7B-A5BC-483F39B841B1}" type="sibTrans" cxnId="{B00ACBF1-70A1-4698-A934-8D86AE39C9BC}">
      <dgm:prSet/>
      <dgm:spPr/>
      <dgm:t>
        <a:bodyPr/>
        <a:lstStyle/>
        <a:p>
          <a:endParaRPr lang="es-ES"/>
        </a:p>
      </dgm:t>
    </dgm:pt>
    <dgm:pt modelId="{B7CAE513-68CA-4C52-B097-F4400810D74C}">
      <dgm:prSet phldrT="[Texto]"/>
      <dgm:spPr/>
      <dgm:t>
        <a:bodyPr/>
        <a:lstStyle/>
        <a:p>
          <a:r>
            <a:rPr lang="es-ES" dirty="0"/>
            <a:t>4. Sistema muestra los datos para completar el inicio de sesión</a:t>
          </a:r>
        </a:p>
      </dgm:t>
    </dgm:pt>
    <dgm:pt modelId="{86A82C60-F477-42C6-95A5-E8694DE7D40A}" type="parTrans" cxnId="{BF87D7BE-2555-44EB-B63F-C31BFF9AB713}">
      <dgm:prSet/>
      <dgm:spPr/>
      <dgm:t>
        <a:bodyPr/>
        <a:lstStyle/>
        <a:p>
          <a:endParaRPr lang="es-ES"/>
        </a:p>
      </dgm:t>
    </dgm:pt>
    <dgm:pt modelId="{13658A7B-CDE0-43B1-B4CD-5E082B0E3631}" type="sibTrans" cxnId="{BF87D7BE-2555-44EB-B63F-C31BFF9AB713}">
      <dgm:prSet/>
      <dgm:spPr/>
      <dgm:t>
        <a:bodyPr/>
        <a:lstStyle/>
        <a:p>
          <a:endParaRPr lang="es-ES"/>
        </a:p>
      </dgm:t>
    </dgm:pt>
    <dgm:pt modelId="{D855905A-CA0F-4111-A503-F302984AC893}" type="pres">
      <dgm:prSet presAssocID="{9CAB8E1C-C6B6-421C-8E2E-5060C5E9A7D5}" presName="Name0" presStyleCnt="0">
        <dgm:presLayoutVars>
          <dgm:dir/>
          <dgm:resizeHandles val="exact"/>
        </dgm:presLayoutVars>
      </dgm:prSet>
      <dgm:spPr/>
    </dgm:pt>
    <dgm:pt modelId="{E8F89CB3-36C8-4E65-8341-146E555A51BE}" type="pres">
      <dgm:prSet presAssocID="{F2885B6D-3876-4D72-8F23-D8E5D2289DB5}" presName="node" presStyleLbl="node1" presStyleIdx="0" presStyleCnt="2" custLinFactNeighborX="2854" custLinFactNeighborY="-1786">
        <dgm:presLayoutVars>
          <dgm:bulletEnabled val="1"/>
        </dgm:presLayoutVars>
      </dgm:prSet>
      <dgm:spPr/>
    </dgm:pt>
    <dgm:pt modelId="{6AAA1E17-747F-47B4-8352-936D7EA4EA9C}" type="pres">
      <dgm:prSet presAssocID="{2485DD2F-76E1-4F7B-A5BC-483F39B841B1}" presName="sibTrans" presStyleLbl="sibTrans2D1" presStyleIdx="0" presStyleCnt="1"/>
      <dgm:spPr/>
    </dgm:pt>
    <dgm:pt modelId="{60AA81BC-60E0-4332-97AD-626C4FD35373}" type="pres">
      <dgm:prSet presAssocID="{2485DD2F-76E1-4F7B-A5BC-483F39B841B1}" presName="connectorText" presStyleLbl="sibTrans2D1" presStyleIdx="0" presStyleCnt="1"/>
      <dgm:spPr/>
    </dgm:pt>
    <dgm:pt modelId="{A47C3C01-6A08-4971-9CF9-682BB4079717}" type="pres">
      <dgm:prSet presAssocID="{B7CAE513-68CA-4C52-B097-F4400810D74C}" presName="node" presStyleLbl="node1" presStyleIdx="1" presStyleCnt="2">
        <dgm:presLayoutVars>
          <dgm:bulletEnabled val="1"/>
        </dgm:presLayoutVars>
      </dgm:prSet>
      <dgm:spPr/>
    </dgm:pt>
  </dgm:ptLst>
  <dgm:cxnLst>
    <dgm:cxn modelId="{B5AA1703-1CB8-4981-BC48-1878C13801D2}" type="presOf" srcId="{F2885B6D-3876-4D72-8F23-D8E5D2289DB5}" destId="{E8F89CB3-36C8-4E65-8341-146E555A51BE}" srcOrd="0" destOrd="0" presId="urn:microsoft.com/office/officeart/2005/8/layout/process1"/>
    <dgm:cxn modelId="{4CC7EA15-137B-4CAB-A8A2-A69142EFAD62}" type="presOf" srcId="{9CAB8E1C-C6B6-421C-8E2E-5060C5E9A7D5}" destId="{D855905A-CA0F-4111-A503-F302984AC893}" srcOrd="0" destOrd="0" presId="urn:microsoft.com/office/officeart/2005/8/layout/process1"/>
    <dgm:cxn modelId="{C60AA334-F44E-4DD7-A403-F2C556A8D00C}" type="presOf" srcId="{2485DD2F-76E1-4F7B-A5BC-483F39B841B1}" destId="{60AA81BC-60E0-4332-97AD-626C4FD35373}" srcOrd="1" destOrd="0" presId="urn:microsoft.com/office/officeart/2005/8/layout/process1"/>
    <dgm:cxn modelId="{5B45963D-E13E-4771-AB55-8E0FC512931C}" type="presOf" srcId="{B7CAE513-68CA-4C52-B097-F4400810D74C}" destId="{A47C3C01-6A08-4971-9CF9-682BB4079717}" srcOrd="0" destOrd="0" presId="urn:microsoft.com/office/officeart/2005/8/layout/process1"/>
    <dgm:cxn modelId="{B10EE29B-3405-43F8-A752-EED28F9DEF3D}" type="presOf" srcId="{2485DD2F-76E1-4F7B-A5BC-483F39B841B1}" destId="{6AAA1E17-747F-47B4-8352-936D7EA4EA9C}" srcOrd="0" destOrd="0" presId="urn:microsoft.com/office/officeart/2005/8/layout/process1"/>
    <dgm:cxn modelId="{BF87D7BE-2555-44EB-B63F-C31BFF9AB713}" srcId="{9CAB8E1C-C6B6-421C-8E2E-5060C5E9A7D5}" destId="{B7CAE513-68CA-4C52-B097-F4400810D74C}" srcOrd="1" destOrd="0" parTransId="{86A82C60-F477-42C6-95A5-E8694DE7D40A}" sibTransId="{13658A7B-CDE0-43B1-B4CD-5E082B0E3631}"/>
    <dgm:cxn modelId="{B00ACBF1-70A1-4698-A934-8D86AE39C9BC}" srcId="{9CAB8E1C-C6B6-421C-8E2E-5060C5E9A7D5}" destId="{F2885B6D-3876-4D72-8F23-D8E5D2289DB5}" srcOrd="0" destOrd="0" parTransId="{F0FFCE78-26D1-43C7-9D0C-3758CEADDDED}" sibTransId="{2485DD2F-76E1-4F7B-A5BC-483F39B841B1}"/>
    <dgm:cxn modelId="{E1DC3969-49AB-4929-8668-6CD95E46B332}" type="presParOf" srcId="{D855905A-CA0F-4111-A503-F302984AC893}" destId="{E8F89CB3-36C8-4E65-8341-146E555A51BE}" srcOrd="0" destOrd="0" presId="urn:microsoft.com/office/officeart/2005/8/layout/process1"/>
    <dgm:cxn modelId="{D3AD2B33-6811-4E7A-AD19-9623099DBEEA}" type="presParOf" srcId="{D855905A-CA0F-4111-A503-F302984AC893}" destId="{6AAA1E17-747F-47B4-8352-936D7EA4EA9C}" srcOrd="1" destOrd="0" presId="urn:microsoft.com/office/officeart/2005/8/layout/process1"/>
    <dgm:cxn modelId="{D38D803D-B465-4891-A209-418F1261C028}" type="presParOf" srcId="{6AAA1E17-747F-47B4-8352-936D7EA4EA9C}" destId="{60AA81BC-60E0-4332-97AD-626C4FD35373}" srcOrd="0" destOrd="0" presId="urn:microsoft.com/office/officeart/2005/8/layout/process1"/>
    <dgm:cxn modelId="{64B9C2D2-E1EF-46D9-95FE-B6148AF4296C}" type="presParOf" srcId="{D855905A-CA0F-4111-A503-F302984AC893}" destId="{A47C3C01-6A08-4971-9CF9-682BB407971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AB8E1C-C6B6-421C-8E2E-5060C5E9A7D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2885B6D-3876-4D72-8F23-D8E5D2289DB5}">
      <dgm:prSet phldrT="[Texto]"/>
      <dgm:spPr/>
      <dgm:t>
        <a:bodyPr/>
        <a:lstStyle/>
        <a:p>
          <a:r>
            <a:rPr lang="es-ES" dirty="0"/>
            <a:t>1. Pulsa botón “Aceptar”</a:t>
          </a:r>
        </a:p>
      </dgm:t>
    </dgm:pt>
    <dgm:pt modelId="{F0FFCE78-26D1-43C7-9D0C-3758CEADDDED}" type="parTrans" cxnId="{B00ACBF1-70A1-4698-A934-8D86AE39C9BC}">
      <dgm:prSet/>
      <dgm:spPr/>
      <dgm:t>
        <a:bodyPr/>
        <a:lstStyle/>
        <a:p>
          <a:endParaRPr lang="es-ES"/>
        </a:p>
      </dgm:t>
    </dgm:pt>
    <dgm:pt modelId="{2485DD2F-76E1-4F7B-A5BC-483F39B841B1}" type="sibTrans" cxnId="{B00ACBF1-70A1-4698-A934-8D86AE39C9BC}">
      <dgm:prSet/>
      <dgm:spPr/>
      <dgm:t>
        <a:bodyPr/>
        <a:lstStyle/>
        <a:p>
          <a:endParaRPr lang="es-ES"/>
        </a:p>
      </dgm:t>
    </dgm:pt>
    <dgm:pt modelId="{B7CAE513-68CA-4C52-B097-F4400810D74C}">
      <dgm:prSet phldrT="[Texto]"/>
      <dgm:spPr/>
      <dgm:t>
        <a:bodyPr/>
        <a:lstStyle/>
        <a:p>
          <a:r>
            <a:rPr lang="es-ES" dirty="0"/>
            <a:t>2. Sistema muestra página principal y opciones</a:t>
          </a:r>
        </a:p>
      </dgm:t>
    </dgm:pt>
    <dgm:pt modelId="{86A82C60-F477-42C6-95A5-E8694DE7D40A}" type="parTrans" cxnId="{BF87D7BE-2555-44EB-B63F-C31BFF9AB713}">
      <dgm:prSet/>
      <dgm:spPr/>
      <dgm:t>
        <a:bodyPr/>
        <a:lstStyle/>
        <a:p>
          <a:endParaRPr lang="es-ES"/>
        </a:p>
      </dgm:t>
    </dgm:pt>
    <dgm:pt modelId="{13658A7B-CDE0-43B1-B4CD-5E082B0E3631}" type="sibTrans" cxnId="{BF87D7BE-2555-44EB-B63F-C31BFF9AB713}">
      <dgm:prSet/>
      <dgm:spPr/>
      <dgm:t>
        <a:bodyPr/>
        <a:lstStyle/>
        <a:p>
          <a:endParaRPr lang="es-ES"/>
        </a:p>
      </dgm:t>
    </dgm:pt>
    <dgm:pt modelId="{D855905A-CA0F-4111-A503-F302984AC893}" type="pres">
      <dgm:prSet presAssocID="{9CAB8E1C-C6B6-421C-8E2E-5060C5E9A7D5}" presName="Name0" presStyleCnt="0">
        <dgm:presLayoutVars>
          <dgm:dir/>
          <dgm:resizeHandles val="exact"/>
        </dgm:presLayoutVars>
      </dgm:prSet>
      <dgm:spPr/>
    </dgm:pt>
    <dgm:pt modelId="{E8F89CB3-36C8-4E65-8341-146E555A51BE}" type="pres">
      <dgm:prSet presAssocID="{F2885B6D-3876-4D72-8F23-D8E5D2289DB5}" presName="node" presStyleLbl="node1" presStyleIdx="0" presStyleCnt="2" custLinFactNeighborX="2854" custLinFactNeighborY="-1786">
        <dgm:presLayoutVars>
          <dgm:bulletEnabled val="1"/>
        </dgm:presLayoutVars>
      </dgm:prSet>
      <dgm:spPr/>
    </dgm:pt>
    <dgm:pt modelId="{6AAA1E17-747F-47B4-8352-936D7EA4EA9C}" type="pres">
      <dgm:prSet presAssocID="{2485DD2F-76E1-4F7B-A5BC-483F39B841B1}" presName="sibTrans" presStyleLbl="sibTrans2D1" presStyleIdx="0" presStyleCnt="1"/>
      <dgm:spPr/>
    </dgm:pt>
    <dgm:pt modelId="{60AA81BC-60E0-4332-97AD-626C4FD35373}" type="pres">
      <dgm:prSet presAssocID="{2485DD2F-76E1-4F7B-A5BC-483F39B841B1}" presName="connectorText" presStyleLbl="sibTrans2D1" presStyleIdx="0" presStyleCnt="1"/>
      <dgm:spPr/>
    </dgm:pt>
    <dgm:pt modelId="{A47C3C01-6A08-4971-9CF9-682BB4079717}" type="pres">
      <dgm:prSet presAssocID="{B7CAE513-68CA-4C52-B097-F4400810D74C}" presName="node" presStyleLbl="node1" presStyleIdx="1" presStyleCnt="2">
        <dgm:presLayoutVars>
          <dgm:bulletEnabled val="1"/>
        </dgm:presLayoutVars>
      </dgm:prSet>
      <dgm:spPr/>
    </dgm:pt>
  </dgm:ptLst>
  <dgm:cxnLst>
    <dgm:cxn modelId="{B5AA1703-1CB8-4981-BC48-1878C13801D2}" type="presOf" srcId="{F2885B6D-3876-4D72-8F23-D8E5D2289DB5}" destId="{E8F89CB3-36C8-4E65-8341-146E555A51BE}" srcOrd="0" destOrd="0" presId="urn:microsoft.com/office/officeart/2005/8/layout/process1"/>
    <dgm:cxn modelId="{4CC7EA15-137B-4CAB-A8A2-A69142EFAD62}" type="presOf" srcId="{9CAB8E1C-C6B6-421C-8E2E-5060C5E9A7D5}" destId="{D855905A-CA0F-4111-A503-F302984AC893}" srcOrd="0" destOrd="0" presId="urn:microsoft.com/office/officeart/2005/8/layout/process1"/>
    <dgm:cxn modelId="{C60AA334-F44E-4DD7-A403-F2C556A8D00C}" type="presOf" srcId="{2485DD2F-76E1-4F7B-A5BC-483F39B841B1}" destId="{60AA81BC-60E0-4332-97AD-626C4FD35373}" srcOrd="1" destOrd="0" presId="urn:microsoft.com/office/officeart/2005/8/layout/process1"/>
    <dgm:cxn modelId="{5B45963D-E13E-4771-AB55-8E0FC512931C}" type="presOf" srcId="{B7CAE513-68CA-4C52-B097-F4400810D74C}" destId="{A47C3C01-6A08-4971-9CF9-682BB4079717}" srcOrd="0" destOrd="0" presId="urn:microsoft.com/office/officeart/2005/8/layout/process1"/>
    <dgm:cxn modelId="{B10EE29B-3405-43F8-A752-EED28F9DEF3D}" type="presOf" srcId="{2485DD2F-76E1-4F7B-A5BC-483F39B841B1}" destId="{6AAA1E17-747F-47B4-8352-936D7EA4EA9C}" srcOrd="0" destOrd="0" presId="urn:microsoft.com/office/officeart/2005/8/layout/process1"/>
    <dgm:cxn modelId="{BF87D7BE-2555-44EB-B63F-C31BFF9AB713}" srcId="{9CAB8E1C-C6B6-421C-8E2E-5060C5E9A7D5}" destId="{B7CAE513-68CA-4C52-B097-F4400810D74C}" srcOrd="1" destOrd="0" parTransId="{86A82C60-F477-42C6-95A5-E8694DE7D40A}" sibTransId="{13658A7B-CDE0-43B1-B4CD-5E082B0E3631}"/>
    <dgm:cxn modelId="{B00ACBF1-70A1-4698-A934-8D86AE39C9BC}" srcId="{9CAB8E1C-C6B6-421C-8E2E-5060C5E9A7D5}" destId="{F2885B6D-3876-4D72-8F23-D8E5D2289DB5}" srcOrd="0" destOrd="0" parTransId="{F0FFCE78-26D1-43C7-9D0C-3758CEADDDED}" sibTransId="{2485DD2F-76E1-4F7B-A5BC-483F39B841B1}"/>
    <dgm:cxn modelId="{E1DC3969-49AB-4929-8668-6CD95E46B332}" type="presParOf" srcId="{D855905A-CA0F-4111-A503-F302984AC893}" destId="{E8F89CB3-36C8-4E65-8341-146E555A51BE}" srcOrd="0" destOrd="0" presId="urn:microsoft.com/office/officeart/2005/8/layout/process1"/>
    <dgm:cxn modelId="{D3AD2B33-6811-4E7A-AD19-9623099DBEEA}" type="presParOf" srcId="{D855905A-CA0F-4111-A503-F302984AC893}" destId="{6AAA1E17-747F-47B4-8352-936D7EA4EA9C}" srcOrd="1" destOrd="0" presId="urn:microsoft.com/office/officeart/2005/8/layout/process1"/>
    <dgm:cxn modelId="{D38D803D-B465-4891-A209-418F1261C028}" type="presParOf" srcId="{6AAA1E17-747F-47B4-8352-936D7EA4EA9C}" destId="{60AA81BC-60E0-4332-97AD-626C4FD35373}" srcOrd="0" destOrd="0" presId="urn:microsoft.com/office/officeart/2005/8/layout/process1"/>
    <dgm:cxn modelId="{64B9C2D2-E1EF-46D9-95FE-B6148AF4296C}" type="presParOf" srcId="{D855905A-CA0F-4111-A503-F302984AC893}" destId="{A47C3C01-6A08-4971-9CF9-682BB407971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89CB3-36C8-4E65-8341-146E555A51BE}">
      <dsp:nvSpPr>
        <dsp:cNvPr id="0" name=""/>
        <dsp:cNvSpPr/>
      </dsp:nvSpPr>
      <dsp:spPr>
        <a:xfrm>
          <a:off x="22780" y="0"/>
          <a:ext cx="1916758" cy="750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3. Pulsa botón “Iniciar sesión”</a:t>
          </a:r>
        </a:p>
      </dsp:txBody>
      <dsp:txXfrm>
        <a:off x="44771" y="21991"/>
        <a:ext cx="1872776" cy="706841"/>
      </dsp:txXfrm>
    </dsp:sp>
    <dsp:sp modelId="{6AAA1E17-747F-47B4-8352-936D7EA4EA9C}">
      <dsp:nvSpPr>
        <dsp:cNvPr id="0" name=""/>
        <dsp:cNvSpPr/>
      </dsp:nvSpPr>
      <dsp:spPr>
        <a:xfrm>
          <a:off x="2125744" y="137733"/>
          <a:ext cx="394755" cy="475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2125744" y="232804"/>
        <a:ext cx="276329" cy="285214"/>
      </dsp:txXfrm>
    </dsp:sp>
    <dsp:sp modelId="{A47C3C01-6A08-4971-9CF9-682BB4079717}">
      <dsp:nvSpPr>
        <dsp:cNvPr id="0" name=""/>
        <dsp:cNvSpPr/>
      </dsp:nvSpPr>
      <dsp:spPr>
        <a:xfrm>
          <a:off x="2684360" y="0"/>
          <a:ext cx="1916758" cy="750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4. Sistema muestra los datos para completar el inicio de sesión</a:t>
          </a:r>
        </a:p>
      </dsp:txBody>
      <dsp:txXfrm>
        <a:off x="2706351" y="21991"/>
        <a:ext cx="1872776" cy="7068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89CB3-36C8-4E65-8341-146E555A51BE}">
      <dsp:nvSpPr>
        <dsp:cNvPr id="0" name=""/>
        <dsp:cNvSpPr/>
      </dsp:nvSpPr>
      <dsp:spPr>
        <a:xfrm>
          <a:off x="22780" y="0"/>
          <a:ext cx="1916758" cy="750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1. Pulsa botón “Aceptar”</a:t>
          </a:r>
        </a:p>
      </dsp:txBody>
      <dsp:txXfrm>
        <a:off x="44771" y="21991"/>
        <a:ext cx="1872776" cy="706841"/>
      </dsp:txXfrm>
    </dsp:sp>
    <dsp:sp modelId="{6AAA1E17-747F-47B4-8352-936D7EA4EA9C}">
      <dsp:nvSpPr>
        <dsp:cNvPr id="0" name=""/>
        <dsp:cNvSpPr/>
      </dsp:nvSpPr>
      <dsp:spPr>
        <a:xfrm>
          <a:off x="2125744" y="137733"/>
          <a:ext cx="394755" cy="4753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2125744" y="232804"/>
        <a:ext cx="276329" cy="285214"/>
      </dsp:txXfrm>
    </dsp:sp>
    <dsp:sp modelId="{A47C3C01-6A08-4971-9CF9-682BB4079717}">
      <dsp:nvSpPr>
        <dsp:cNvPr id="0" name=""/>
        <dsp:cNvSpPr/>
      </dsp:nvSpPr>
      <dsp:spPr>
        <a:xfrm>
          <a:off x="2684360" y="0"/>
          <a:ext cx="1916758" cy="750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2. Sistema muestra página principal y opciones</a:t>
          </a:r>
        </a:p>
      </dsp:txBody>
      <dsp:txXfrm>
        <a:off x="2706351" y="21991"/>
        <a:ext cx="1872776" cy="7068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29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72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13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322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02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9987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731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321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556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8338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41366CB-CAAC-4E58-B7FF-CA0612E1D46E}" type="datetimeFigureOut">
              <a:rPr lang="es-ES" smtClean="0"/>
              <a:t>22/10/2019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766F55B-0E81-41B8-87F9-4934204EC3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43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74247-FBBA-4B3B-8203-4D19EE6DF5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ES" sz="6600" dirty="0">
                <a:latin typeface="Calibri" panose="020F0502020204030204" pitchFamily="34" charset="0"/>
                <a:cs typeface="Calibri" panose="020F0502020204030204" pitchFamily="34" charset="0"/>
              </a:rPr>
              <a:t>INGENIERIA DEL SOFTWARE AVANZADA </a:t>
            </a:r>
            <a:b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ITERACION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2D12DB-40CB-4016-8DA8-6DB18F3ADA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s-ES" dirty="0"/>
              <a:t>CTA </a:t>
            </a:r>
          </a:p>
          <a:p>
            <a:pPr algn="ctr"/>
            <a:r>
              <a:rPr lang="es-ES" dirty="0"/>
              <a:t>(comité técnico de árbitros)</a:t>
            </a:r>
          </a:p>
        </p:txBody>
      </p:sp>
    </p:spTree>
    <p:extLst>
      <p:ext uri="{BB962C8B-B14F-4D97-AF65-F5344CB8AC3E}">
        <p14:creationId xmlns:p14="http://schemas.microsoft.com/office/powerpoint/2010/main" val="429319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C05FB-2A59-4936-B14B-F6297D42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5400" dirty="0">
                <a:latin typeface="Calibri" panose="020F0502020204030204" pitchFamily="34" charset="0"/>
                <a:cs typeface="Calibri" panose="020F0502020204030204" pitchFamily="34" charset="0"/>
              </a:rPr>
              <a:t>INDICE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301146-E2F3-423D-A624-4C097A4FDCD6}"/>
              </a:ext>
            </a:extLst>
          </p:cNvPr>
          <p:cNvSpPr txBox="1"/>
          <p:nvPr/>
        </p:nvSpPr>
        <p:spPr>
          <a:xfrm>
            <a:off x="1143000" y="2228294"/>
            <a:ext cx="102714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ARTEFACTO I (visión)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ARTEFACTO II (requisitos)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ARTEFACTO III (casos de uso)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ARTEFACTO IV (modelo de dominio)</a:t>
            </a:r>
          </a:p>
          <a:p>
            <a:pPr marL="342900" indent="-342900">
              <a:buFont typeface="+mj-lt"/>
              <a:buAutoNum type="arabicPeriod"/>
            </a:pPr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ARTEFACTO V (modelado de casos de uso)</a:t>
            </a:r>
          </a:p>
        </p:txBody>
      </p:sp>
    </p:spTree>
    <p:extLst>
      <p:ext uri="{BB962C8B-B14F-4D97-AF65-F5344CB8AC3E}">
        <p14:creationId xmlns:p14="http://schemas.microsoft.com/office/powerpoint/2010/main" val="63585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C4441-7C87-429F-B2C0-5E54508E1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1. VISIÓN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FE964D-A5A4-4B29-87D5-8EDAC7DF7AE3}"/>
              </a:ext>
            </a:extLst>
          </p:cNvPr>
          <p:cNvSpPr txBox="1"/>
          <p:nvPr/>
        </p:nvSpPr>
        <p:spPr>
          <a:xfrm>
            <a:off x="1173480" y="1965960"/>
            <a:ext cx="1051864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1.1 Características comunes de los presupuestos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1.2 Coste bajo vs Coste alto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1.3 Diagrama de contexto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1.4 Solución adoptada</a:t>
            </a: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Empezamos con el artefacto 1, la visión en donde introduciremos que aplicación se va a desarrollar y las distintas opciones que se proponen, además de la solución adoptada.</a:t>
            </a:r>
          </a:p>
        </p:txBody>
      </p:sp>
    </p:spTree>
    <p:extLst>
      <p:ext uri="{BB962C8B-B14F-4D97-AF65-F5344CB8AC3E}">
        <p14:creationId xmlns:p14="http://schemas.microsoft.com/office/powerpoint/2010/main" val="4137947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13E7D-FC25-433A-A32B-0FAD5BF0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1.1 Características de los presupuestos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BDECE2-F340-4F19-8071-BF7F1C896B4C}"/>
              </a:ext>
            </a:extLst>
          </p:cNvPr>
          <p:cNvSpPr txBox="1"/>
          <p:nvPr/>
        </p:nvSpPr>
        <p:spPr>
          <a:xfrm>
            <a:off x="1173480" y="1965960"/>
            <a:ext cx="105430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Tenemos dos presupuesto para el desarrollo del proyecto, caro y barato, estas son sus características comunes: 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Base de datos utilizada </a:t>
            </a:r>
            <a:r>
              <a:rPr lang="es-ES" b="1" dirty="0" err="1">
                <a:latin typeface="Calibri" panose="020F0502020204030204" pitchFamily="34" charset="0"/>
                <a:cs typeface="Calibri" panose="020F0502020204030204" pitchFamily="34" charset="0"/>
              </a:rPr>
              <a:t>PostgresSQL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La portabilidad de datos de Excel a SQL se hará a través de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formato .</a:t>
            </a:r>
            <a:r>
              <a:rPr lang="es-ES" b="1" dirty="0" err="1">
                <a:latin typeface="Calibri" panose="020F0502020204030204" pitchFamily="34" charset="0"/>
                <a:cs typeface="Calibri" panose="020F0502020204030204" pitchFamily="34" charset="0"/>
              </a:rPr>
              <a:t>csv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Opción de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cambiar entre lenguas oficiales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El sistema será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una aplicación.</a:t>
            </a:r>
          </a:p>
        </p:txBody>
      </p:sp>
    </p:spTree>
    <p:extLst>
      <p:ext uri="{BB962C8B-B14F-4D97-AF65-F5344CB8AC3E}">
        <p14:creationId xmlns:p14="http://schemas.microsoft.com/office/powerpoint/2010/main" val="2128216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1DB54F-8937-4F3A-B617-8519E522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1.2 Coste bajo vs Coste Alto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7FF8120-07A6-4257-839D-4D40DEB54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436725"/>
              </p:ext>
            </p:extLst>
          </p:nvPr>
        </p:nvGraphicFramePr>
        <p:xfrm>
          <a:off x="2032000" y="2133938"/>
          <a:ext cx="8128000" cy="2761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4262893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094297076"/>
                    </a:ext>
                  </a:extLst>
                </a:gridCol>
              </a:tblGrid>
              <a:tr h="47515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Coste 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Coste Alto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581219"/>
                  </a:ext>
                </a:extLst>
              </a:tr>
              <a:tr h="1926167">
                <a:tc>
                  <a:txBody>
                    <a:bodyPr/>
                    <a:lstStyle/>
                    <a:p>
                      <a:pPr marL="354013" indent="-354013">
                        <a:buFontTx/>
                        <a:buChar char="-"/>
                      </a:pP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Todos los SO sobre </a:t>
                      </a:r>
                      <a:r>
                        <a:rPr lang="es-ES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framework</a:t>
                      </a: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híbrido        de bajo coste (</a:t>
                      </a:r>
                      <a:r>
                        <a:rPr lang="es-ES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Ionic</a:t>
                      </a: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s-ES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Jquery</a:t>
                      </a: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Mobile).</a:t>
                      </a:r>
                    </a:p>
                    <a:p>
                      <a:pPr marL="354013" indent="-354013">
                        <a:buFontTx/>
                        <a:buChar char="-"/>
                      </a:pPr>
                      <a:endParaRPr lang="es-E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54013" indent="-354013">
                        <a:buFontTx/>
                        <a:buChar char="-"/>
                      </a:pP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Realizada con Java.</a:t>
                      </a:r>
                    </a:p>
                    <a:p>
                      <a:pPr marL="354013" indent="-354013">
                        <a:buFontTx/>
                        <a:buChar char="-"/>
                      </a:pPr>
                      <a:endParaRPr lang="es-E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354013" indent="-354013">
                        <a:buFontTx/>
                        <a:buChar char="-"/>
                      </a:pP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Conexión de BD con Java.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   Implementación de forma nativa.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s-E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   Cuatro apps para cada SO.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s-E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   Base de datos conectada con PHP.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s-E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   Servidor </a:t>
                      </a:r>
                      <a:r>
                        <a:rPr lang="es-ES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Velneo</a:t>
                      </a:r>
                      <a:r>
                        <a:rPr lang="es-E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s-E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374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718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BA3A6-22F4-4882-AFE9-77092D2C1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1.3 Diagrama de contexto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23113E1-104A-4371-BEF4-47DEBFBF0C1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826" y="1516186"/>
            <a:ext cx="7807868" cy="504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48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29B0D-AC9B-43E4-97AA-630F7F9E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1.4 Solución adoptada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1A9FB6C-4FA6-440D-8029-79670EF10B53}"/>
              </a:ext>
            </a:extLst>
          </p:cNvPr>
          <p:cNvSpPr txBox="1"/>
          <p:nvPr/>
        </p:nvSpPr>
        <p:spPr>
          <a:xfrm>
            <a:off x="1173480" y="1965960"/>
            <a:ext cx="102504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La opción elegida es la de bajo coste, las razones son: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Sencilla la implementación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Más barato.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Uso más simple.</a:t>
            </a:r>
          </a:p>
        </p:txBody>
      </p:sp>
    </p:spTree>
    <p:extLst>
      <p:ext uri="{BB962C8B-B14F-4D97-AF65-F5344CB8AC3E}">
        <p14:creationId xmlns:p14="http://schemas.microsoft.com/office/powerpoint/2010/main" val="251524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EACDA-D4BC-4572-9E01-EFFF617B4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2. REQUISITOS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579B30-1398-49DB-A471-DC75AC25D0C1}"/>
              </a:ext>
            </a:extLst>
          </p:cNvPr>
          <p:cNvSpPr txBox="1"/>
          <p:nvPr/>
        </p:nvSpPr>
        <p:spPr>
          <a:xfrm>
            <a:off x="1143000" y="1965960"/>
            <a:ext cx="1021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	</a:t>
            </a: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2.1 Definición de requisitos.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2.2 Requisitos funcionales.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2.3 Requisitos no funcionales.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A continuación, en el artefacto 2 hablaremos tanto de la definición como de los diferentes requisitos funcionales y no funcionales más importantes.</a:t>
            </a:r>
          </a:p>
        </p:txBody>
      </p:sp>
    </p:spTree>
    <p:extLst>
      <p:ext uri="{BB962C8B-B14F-4D97-AF65-F5344CB8AC3E}">
        <p14:creationId xmlns:p14="http://schemas.microsoft.com/office/powerpoint/2010/main" val="2729090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2F131-949E-4BE9-AAF2-E6E55B8C5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2.1 Definición de requisitos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27C863-3E83-461D-8526-85562F40FEB1}"/>
              </a:ext>
            </a:extLst>
          </p:cNvPr>
          <p:cNvSpPr txBox="1"/>
          <p:nvPr/>
        </p:nvSpPr>
        <p:spPr>
          <a:xfrm>
            <a:off x="1173480" y="1951672"/>
            <a:ext cx="98755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En el documento de definición de requisitos, tenemos los siguiente requisitos: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- 29 requisitos funcionales.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- 4 requisitos no funcionales de coste bajo y 5 requisitos no funcionales de coste alto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38D5B0D-926A-4F2B-BB7F-8D520740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362959"/>
            <a:ext cx="4473181" cy="30950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2729A04-6126-4C10-B523-4FAE1D9B0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509" y="3451354"/>
            <a:ext cx="4473181" cy="291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19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8B0CA-E1AA-414F-8E6F-54A451C56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2.2 Requisitos funcionales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F9E71DF-E735-4D82-ABE0-C7B80462BCE7}"/>
              </a:ext>
            </a:extLst>
          </p:cNvPr>
          <p:cNvSpPr txBox="1"/>
          <p:nvPr/>
        </p:nvSpPr>
        <p:spPr>
          <a:xfrm>
            <a:off x="1143000" y="1965960"/>
            <a:ext cx="101623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indent="-360363"/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RF 2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: Pedir autentificación a cada usuario antes de acceder al sistema</a:t>
            </a:r>
          </a:p>
          <a:p>
            <a:pPr marL="360363" indent="-360363"/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indent="-360363"/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RF 4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: Guardar la información de todas las temporadas, tantos de las temporadas pasadas como de las próximas temporadas. 	</a:t>
            </a:r>
          </a:p>
          <a:p>
            <a:pPr marL="360363" indent="-360363"/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indent="-360363"/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RF 6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: Permitir a la Federación de árbitros crear la ficha de nuevos colegiados y también eliminar una ficha cuando la baja del árbitro sea permanente. 	</a:t>
            </a:r>
          </a:p>
          <a:p>
            <a:pPr marL="360363" indent="-360363"/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indent="-360363"/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RF 8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: Asignar de forma aleatoria los colegiados que arbitrarán cada partido con un mes de antelación a la jornada. Los colegiados deberán de ser un árbitro principal, dos asistentes, u cuarto árbitro y un suplente. </a:t>
            </a:r>
          </a:p>
        </p:txBody>
      </p:sp>
    </p:spTree>
    <p:extLst>
      <p:ext uri="{BB962C8B-B14F-4D97-AF65-F5344CB8AC3E}">
        <p14:creationId xmlns:p14="http://schemas.microsoft.com/office/powerpoint/2010/main" val="1540816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16E13-94E8-43B5-A7E8-77B985D1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2.3 Requisitos no funcionales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F118B9-1472-441B-BF0C-3D55BCAD0DA0}"/>
              </a:ext>
            </a:extLst>
          </p:cNvPr>
          <p:cNvSpPr txBox="1"/>
          <p:nvPr/>
        </p:nvSpPr>
        <p:spPr>
          <a:xfrm>
            <a:off x="1143000" y="1965960"/>
            <a:ext cx="103008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363" lvl="1">
              <a:tabLst>
                <a:tab pos="623888" algn="l"/>
              </a:tabLst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RNF 1.3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: El sistema instalado en los equipos de las distintas sedes deberá ser compatible con el sistema operativo de estos. 	</a:t>
            </a:r>
          </a:p>
          <a:p>
            <a:pPr marL="360363" lvl="1">
              <a:tabLst>
                <a:tab pos="623888" algn="l"/>
              </a:tabLst>
            </a:pP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lvl="1">
              <a:tabLst>
                <a:tab pos="623888" algn="l"/>
              </a:tabLst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RNF 2.1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: El sistema podrá ser usado en las lenguas oficiales (catalán, gallego, euskera y castellano)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marL="360363" lvl="1">
              <a:tabLst>
                <a:tab pos="623888" algn="l"/>
              </a:tabLst>
            </a:pP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lvl="1">
              <a:tabLst>
                <a:tab pos="623888" algn="l"/>
              </a:tabLst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RNF 3.2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: El sistema podrá ser accesible a través de la aplicación de forma online, ya sea mediante ordenador o dispositivo móvil, por los árbitros, empleados necesarios de la Federación de árbitros y un representante de la Federación de fútbol. 	</a:t>
            </a:r>
          </a:p>
          <a:p>
            <a:pPr marL="360363" lvl="1">
              <a:tabLst>
                <a:tab pos="623888" algn="l"/>
              </a:tabLst>
            </a:pP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60363" lvl="1">
              <a:tabLst>
                <a:tab pos="623888" algn="l"/>
              </a:tabLst>
            </a:pP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RNF 4.1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: El sistema deberá cumplir con la legislación aplicable en España. </a:t>
            </a:r>
            <a:r>
              <a:rPr lang="es-ES" dirty="0"/>
              <a:t>	</a:t>
            </a:r>
          </a:p>
          <a:p>
            <a:pPr marL="742950" lvl="1" indent="-285750">
              <a:buFontTx/>
              <a:buChar char="-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76375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10759-C073-4E24-8B06-EC84DB3D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3. CASOS DE USO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01BCA4B-A53C-4215-BE76-301D634686CE}"/>
              </a:ext>
            </a:extLst>
          </p:cNvPr>
          <p:cNvSpPr txBox="1"/>
          <p:nvPr/>
        </p:nvSpPr>
        <p:spPr>
          <a:xfrm flipH="1">
            <a:off x="1142999" y="1965960"/>
            <a:ext cx="1051093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3.1 Diagramas casos de uso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3.1.1 Presidente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3.1.2 Técnicos informáticos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3.1.3 Árbitro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3.1.4 Representante Federación Fútbol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3.1.5 Delegado de la sede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3.1.6 Sistema</a:t>
            </a:r>
          </a:p>
          <a:p>
            <a:endParaRPr lang="es-ES" sz="24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sz="240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En el artefacto número de 3 se explicarán los detalles más importantes que hay dentro de los diagramas de casos de uso realizados.</a:t>
            </a:r>
          </a:p>
          <a:p>
            <a:r>
              <a:rPr lang="es-E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987326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D6322-8616-4B97-BEFC-C9B34F5F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3.1 Diagramas de casos de uso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61AC7B-03A4-47E7-9605-A47BBF4AD45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240" y="2471075"/>
            <a:ext cx="9129520" cy="3544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A542B3C-80AC-4346-B7D9-0EF64E5C8350}"/>
              </a:ext>
            </a:extLst>
          </p:cNvPr>
          <p:cNvSpPr txBox="1"/>
          <p:nvPr/>
        </p:nvSpPr>
        <p:spPr>
          <a:xfrm>
            <a:off x="1143000" y="1965960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3.1.1 Presidente</a:t>
            </a:r>
          </a:p>
        </p:txBody>
      </p:sp>
    </p:spTree>
    <p:extLst>
      <p:ext uri="{BB962C8B-B14F-4D97-AF65-F5344CB8AC3E}">
        <p14:creationId xmlns:p14="http://schemas.microsoft.com/office/powerpoint/2010/main" val="3966704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51A9F-8FFA-4A67-9912-AEB5DFEA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3.1 Diagramas de casos de uso</a:t>
            </a:r>
            <a:endParaRPr lang="es-ES" sz="3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4C1D0FC-D374-470F-9528-65D40BBFD8D8}"/>
              </a:ext>
            </a:extLst>
          </p:cNvPr>
          <p:cNvSpPr txBox="1"/>
          <p:nvPr/>
        </p:nvSpPr>
        <p:spPr>
          <a:xfrm>
            <a:off x="1143000" y="1965960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3.1.2 Técnicos informáticos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97E5D94-F59E-4785-A23E-1532181F79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190" y="2456547"/>
            <a:ext cx="7688179" cy="3390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6417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2254E-4A3D-41A6-B565-89F35AEB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3.1 Diagramas de casos de uso</a:t>
            </a:r>
            <a:endParaRPr lang="es-ES" sz="3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848943A-C081-489E-B066-06D5727E957B}"/>
              </a:ext>
            </a:extLst>
          </p:cNvPr>
          <p:cNvSpPr txBox="1"/>
          <p:nvPr/>
        </p:nvSpPr>
        <p:spPr>
          <a:xfrm>
            <a:off x="1143000" y="1965960"/>
            <a:ext cx="1367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3.1.3 Árbitro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759D367-0609-4050-8C35-96B3740FF16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752" y="2335292"/>
            <a:ext cx="7950016" cy="39131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9815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298BA-B9D4-439E-86F5-B61FA2E8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3.1 Diagramas de casos de uso</a:t>
            </a:r>
            <a:endParaRPr lang="es-ES" sz="3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1E7281-5FF5-4AB8-8619-591F03E84FD9}"/>
              </a:ext>
            </a:extLst>
          </p:cNvPr>
          <p:cNvSpPr txBox="1"/>
          <p:nvPr/>
        </p:nvSpPr>
        <p:spPr>
          <a:xfrm>
            <a:off x="1143000" y="1965960"/>
            <a:ext cx="385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3.1.4 Representante Federación Fútbol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89C9A4-E899-4582-AABD-D5F30B8B727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779" y="2335292"/>
            <a:ext cx="9312442" cy="40546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3609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BA58D-3596-4B4D-A430-9B4092C32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3.1 Diagramas de casos de uso</a:t>
            </a:r>
            <a:endParaRPr lang="es-ES" sz="3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7FE71C-36DD-4530-8DBC-EF2CF82A5AC0}"/>
              </a:ext>
            </a:extLst>
          </p:cNvPr>
          <p:cNvSpPr txBox="1"/>
          <p:nvPr/>
        </p:nvSpPr>
        <p:spPr>
          <a:xfrm>
            <a:off x="1143000" y="1965960"/>
            <a:ext cx="2585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3.1.5 Delegado de la sede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1BBF2C-1432-4C30-9F4F-9DD761A88DB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609" y="2335292"/>
            <a:ext cx="8749059" cy="4198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7063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C37D3-3E00-48FD-ACA5-5D12926A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3.1 Diagramas de casos de uso</a:t>
            </a:r>
            <a:endParaRPr lang="es-ES" sz="3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0E21EB-F2EF-4BE1-AD05-58A0ECE1932F}"/>
              </a:ext>
            </a:extLst>
          </p:cNvPr>
          <p:cNvSpPr txBox="1"/>
          <p:nvPr/>
        </p:nvSpPr>
        <p:spPr>
          <a:xfrm>
            <a:off x="1143000" y="1965960"/>
            <a:ext cx="145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3.1.6 Sistema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2E3C30-4608-4CC8-9268-241B6012141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703" y="2121932"/>
            <a:ext cx="7724617" cy="4278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5841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3199A-F123-4622-A87F-ACD64CFE3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256522"/>
          </a:xfrm>
        </p:spPr>
        <p:txBody>
          <a:bodyPr/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4. MODELO DE DOMINIO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70B136-35B5-4E2D-A94A-2FE3B4D8E34D}"/>
              </a:ext>
            </a:extLst>
          </p:cNvPr>
          <p:cNvSpPr txBox="1"/>
          <p:nvPr/>
        </p:nvSpPr>
        <p:spPr>
          <a:xfrm>
            <a:off x="1143000" y="1866122"/>
            <a:ext cx="105109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	</a:t>
            </a: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4.1 Diagrama E/R.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4.2 Elementos diagrama E/R.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En el artefacto 4 hablaremos del modelo de dominio, es decir, del diagrama entidad relación. Mostrando el diagrama entidad relación y algunos elementos de este.</a:t>
            </a:r>
          </a:p>
        </p:txBody>
      </p:sp>
    </p:spTree>
    <p:extLst>
      <p:ext uri="{BB962C8B-B14F-4D97-AF65-F5344CB8AC3E}">
        <p14:creationId xmlns:p14="http://schemas.microsoft.com/office/powerpoint/2010/main" val="536089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490B4-388B-4F53-AA41-0BA5A6B93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4.1 Diagrama E/R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BD1ABB-27D9-4D47-98FA-931B4834A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347" y="1431758"/>
            <a:ext cx="7687033" cy="51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40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C6718-DC9E-42C2-A7BE-9EBA4E52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4.2 Elementos diagrama E/R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720A4A5-3C62-47A4-B6E8-00F1117510F4}"/>
              </a:ext>
            </a:extLst>
          </p:cNvPr>
          <p:cNvSpPr txBox="1"/>
          <p:nvPr/>
        </p:nvSpPr>
        <p:spPr>
          <a:xfrm>
            <a:off x="1143000" y="1965959"/>
            <a:ext cx="104689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Algunos elementos que deban ser explicados del diagrama entidad relación son: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Cardinalidades N:M de las relaciones Árbitro-Liga y Partido-Jugador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han sido sustituidas por dos 	entidades con cardinalidades 1:N las cuales son Arbitro-Liga y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DatosJugador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-Partido.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Entidad Arbitro-Liga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guarda un registro de los árbitros que han arbitrado en una liga además de sus 	puestos (principal, linier…).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Entidad </a:t>
            </a:r>
            <a:r>
              <a:rPr lang="es-ES" b="1" dirty="0" err="1">
                <a:latin typeface="Calibri" panose="020F0502020204030204" pitchFamily="34" charset="0"/>
                <a:cs typeface="Calibri" panose="020F0502020204030204" pitchFamily="34" charset="0"/>
              </a:rPr>
              <a:t>DatosJugador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-Partido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guarda los datos que se generan de cada jugador por cada partido en el 	que el jugador ha sido convocado.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Atributo </a:t>
            </a:r>
            <a:r>
              <a:rPr lang="es-ES" b="1" dirty="0" err="1">
                <a:latin typeface="Calibri" panose="020F0502020204030204" pitchFamily="34" charset="0"/>
                <a:cs typeface="Calibri" panose="020F0502020204030204" pitchFamily="34" charset="0"/>
              </a:rPr>
              <a:t>OrganoEmisor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 en entidad </a:t>
            </a:r>
            <a:r>
              <a:rPr lang="es-ES" b="1" dirty="0" err="1">
                <a:latin typeface="Calibri" panose="020F0502020204030204" pitchFamily="34" charset="0"/>
                <a:cs typeface="Calibri" panose="020F0502020204030204" pitchFamily="34" charset="0"/>
              </a:rPr>
              <a:t>Sancion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que nos permite saber como procesar una sanción 	dependiendo de que órgano sea el emisor.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65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4ECA4-BB45-4D0C-BDDE-87F7ACF1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5. MODELADO DE CASOS DE USO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0630CD0-07F7-4E40-8A73-1B63F86C95C7}"/>
              </a:ext>
            </a:extLst>
          </p:cNvPr>
          <p:cNvSpPr txBox="1"/>
          <p:nvPr/>
        </p:nvSpPr>
        <p:spPr>
          <a:xfrm>
            <a:off x="1143000" y="1965960"/>
            <a:ext cx="10198331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5.1 Identificación 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5.1.1 Descripción y pre-post condiciones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5.1.2 Escenarios</a:t>
            </a:r>
          </a:p>
          <a:p>
            <a:r>
              <a:rPr lang="es-ES" sz="24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	5.1.3 Descripción de la interfaz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Por último, en el artefacto 5 veremos en profundidad la descripción y modelados de uno de los casos de uso, la identificación del usuario.</a:t>
            </a:r>
          </a:p>
        </p:txBody>
      </p:sp>
    </p:spTree>
    <p:extLst>
      <p:ext uri="{BB962C8B-B14F-4D97-AF65-F5344CB8AC3E}">
        <p14:creationId xmlns:p14="http://schemas.microsoft.com/office/powerpoint/2010/main" val="4046446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105D7-C6B5-48A4-81C4-0CD74468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>
                <a:latin typeface="Calibri" panose="020F0502020204030204" pitchFamily="34" charset="0"/>
                <a:cs typeface="Calibri" panose="020F0502020204030204" pitchFamily="34" charset="0"/>
              </a:rPr>
              <a:t>5.1 Identificación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E506663-8B69-4B7B-959B-70F8C52A39AD}"/>
              </a:ext>
            </a:extLst>
          </p:cNvPr>
          <p:cNvSpPr txBox="1"/>
          <p:nvPr/>
        </p:nvSpPr>
        <p:spPr>
          <a:xfrm>
            <a:off x="1173480" y="1965960"/>
            <a:ext cx="103839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5.1.1 Descripción y pre-post condiciones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Para acceder al sistema, se deberá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introducir el usuario y contraseña.</a:t>
            </a:r>
          </a:p>
          <a:p>
            <a:endParaRPr lang="es-E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Precondiciones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- Usuario tiene que estar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previamente registrado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Postcondiciones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- Se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crea el actor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del sistema.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- Se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crea la interfaz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en función del usuario.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	- Se </a:t>
            </a:r>
            <a:r>
              <a:rPr lang="es-ES" b="1" dirty="0">
                <a:latin typeface="Calibri" panose="020F0502020204030204" pitchFamily="34" charset="0"/>
                <a:cs typeface="Calibri" panose="020F0502020204030204" pitchFamily="34" charset="0"/>
              </a:rPr>
              <a:t>crean asociaciones 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para la comunicación.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611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6A22C-B23A-48E2-9D5D-4DD126C1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5.1 Identificación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5496BD-C482-4524-AD4D-93AC6DE5DE54}"/>
              </a:ext>
            </a:extLst>
          </p:cNvPr>
          <p:cNvSpPr txBox="1"/>
          <p:nvPr/>
        </p:nvSpPr>
        <p:spPr>
          <a:xfrm>
            <a:off x="1143000" y="1951432"/>
            <a:ext cx="10383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5.1.2 Escenarios</a:t>
            </a: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Escenario principal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300EA8D-62AB-489B-BD9A-D3935FD317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3971091"/>
              </p:ext>
            </p:extLst>
          </p:nvPr>
        </p:nvGraphicFramePr>
        <p:xfrm>
          <a:off x="6446982" y="3185019"/>
          <a:ext cx="4602018" cy="750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CAE29338-2904-4008-B66E-7F68481926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3467273"/>
              </p:ext>
            </p:extLst>
          </p:nvPr>
        </p:nvGraphicFramePr>
        <p:xfrm>
          <a:off x="1202140" y="3166289"/>
          <a:ext cx="4602018" cy="750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0" name="Grupo 9">
            <a:extLst>
              <a:ext uri="{FF2B5EF4-FFF2-40B4-BE49-F238E27FC236}">
                <a16:creationId xmlns:a16="http://schemas.microsoft.com/office/drawing/2014/main" id="{9685F950-2AC5-4A71-A69F-3892DC638B6C}"/>
              </a:ext>
            </a:extLst>
          </p:cNvPr>
          <p:cNvGrpSpPr/>
          <p:nvPr/>
        </p:nvGrpSpPr>
        <p:grpSpPr>
          <a:xfrm>
            <a:off x="5926872" y="3304022"/>
            <a:ext cx="394755" cy="475356"/>
            <a:chOff x="2125744" y="137733"/>
            <a:chExt cx="394755" cy="475356"/>
          </a:xfrm>
        </p:grpSpPr>
        <p:sp>
          <p:nvSpPr>
            <p:cNvPr id="11" name="Flecha: a la derecha 10">
              <a:extLst>
                <a:ext uri="{FF2B5EF4-FFF2-40B4-BE49-F238E27FC236}">
                  <a16:creationId xmlns:a16="http://schemas.microsoft.com/office/drawing/2014/main" id="{3F400B79-3D3C-4750-BBF7-DF715A8682EF}"/>
                </a:ext>
              </a:extLst>
            </p:cNvPr>
            <p:cNvSpPr/>
            <p:nvPr/>
          </p:nvSpPr>
          <p:spPr>
            <a:xfrm>
              <a:off x="2125744" y="137733"/>
              <a:ext cx="394755" cy="47535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Flecha: a la derecha 4">
              <a:extLst>
                <a:ext uri="{FF2B5EF4-FFF2-40B4-BE49-F238E27FC236}">
                  <a16:creationId xmlns:a16="http://schemas.microsoft.com/office/drawing/2014/main" id="{D3A8F280-F024-4DA0-B4B1-7769BC09EAAC}"/>
                </a:ext>
              </a:extLst>
            </p:cNvPr>
            <p:cNvSpPr txBox="1"/>
            <p:nvPr/>
          </p:nvSpPr>
          <p:spPr>
            <a:xfrm>
              <a:off x="2125744" y="232804"/>
              <a:ext cx="276329" cy="28521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ES" sz="1100" kern="1200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0E61E84-9BA8-4DF6-8F8F-411FB4702EC5}"/>
              </a:ext>
            </a:extLst>
          </p:cNvPr>
          <p:cNvSpPr txBox="1"/>
          <p:nvPr/>
        </p:nvSpPr>
        <p:spPr>
          <a:xfrm>
            <a:off x="1662546" y="4194111"/>
            <a:ext cx="80030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u="sng" dirty="0">
                <a:latin typeface="Calibri" panose="020F0502020204030204" pitchFamily="34" charset="0"/>
                <a:cs typeface="Calibri" panose="020F0502020204030204" pitchFamily="34" charset="0"/>
              </a:rPr>
              <a:t>Escenario excepcional o alternativo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	- Usuario introduce mal los datos en el paso 3, sistema vuelve a pedir los datos</a:t>
            </a:r>
          </a:p>
        </p:txBody>
      </p:sp>
    </p:spTree>
    <p:extLst>
      <p:ext uri="{BB962C8B-B14F-4D97-AF65-F5344CB8AC3E}">
        <p14:creationId xmlns:p14="http://schemas.microsoft.com/office/powerpoint/2010/main" val="1943801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C4914-FC30-4480-84CD-7C200AA2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5.1 Identificación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DC89F7-EEE3-4514-9E6D-D6E1D7B32879}"/>
              </a:ext>
            </a:extLst>
          </p:cNvPr>
          <p:cNvSpPr txBox="1"/>
          <p:nvPr/>
        </p:nvSpPr>
        <p:spPr>
          <a:xfrm>
            <a:off x="1173480" y="1965960"/>
            <a:ext cx="10383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5.1.3 Descripción de la interfaz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EAE830-35E7-4831-8F2F-8BA8DB3642B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454" y="2335292"/>
            <a:ext cx="8027092" cy="4001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2877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B601EEA-991E-4820-BF74-9E31BA1034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Muchas gracias por la atención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DC63A7A-229F-46C2-82D2-03F26CEE78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5400" dirty="0">
                <a:latin typeface="Calibri" panose="020F0502020204030204" pitchFamily="34" charset="0"/>
                <a:cs typeface="Calibri" panose="020F0502020204030204" pitchFamily="34" charset="0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02614918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Base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739</TotalTime>
  <Words>360</Words>
  <Application>Microsoft Office PowerPoint</Application>
  <PresentationFormat>Panorámica</PresentationFormat>
  <Paragraphs>175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9" baseType="lpstr">
      <vt:lpstr>Calibri</vt:lpstr>
      <vt:lpstr>Corbel</vt:lpstr>
      <vt:lpstr>Base</vt:lpstr>
      <vt:lpstr>INGENIERIA DEL SOFTWARE AVANZADA  ITERACION 1</vt:lpstr>
      <vt:lpstr>INDICE</vt:lpstr>
      <vt:lpstr>1. VISIÓN</vt:lpstr>
      <vt:lpstr>1.1 Características de los presupuestos</vt:lpstr>
      <vt:lpstr>1.2 Coste bajo vs Coste Alto</vt:lpstr>
      <vt:lpstr>1.3 Diagrama de contexto</vt:lpstr>
      <vt:lpstr>1.4 Solución adoptada</vt:lpstr>
      <vt:lpstr>2. REQUISITOS</vt:lpstr>
      <vt:lpstr>2.1 Definición de requisitos </vt:lpstr>
      <vt:lpstr>2.2 Requisitos funcionales</vt:lpstr>
      <vt:lpstr>2.3 Requisitos no funcionales</vt:lpstr>
      <vt:lpstr>3. CASOS DE USO</vt:lpstr>
      <vt:lpstr>3.1 Diagramas de casos de uso</vt:lpstr>
      <vt:lpstr>3.1 Diagramas de casos de uso</vt:lpstr>
      <vt:lpstr>3.1 Diagramas de casos de uso</vt:lpstr>
      <vt:lpstr>3.1 Diagramas de casos de uso</vt:lpstr>
      <vt:lpstr>3.1 Diagramas de casos de uso</vt:lpstr>
      <vt:lpstr>3.1 Diagramas de casos de uso</vt:lpstr>
      <vt:lpstr>4. MODELO DE DOMINIO</vt:lpstr>
      <vt:lpstr>4.1 Diagrama E/R</vt:lpstr>
      <vt:lpstr>4.2 Elementos diagrama E/R</vt:lpstr>
      <vt:lpstr>5. MODELADO DE CASOS DE USO</vt:lpstr>
      <vt:lpstr>5.1 Identificación</vt:lpstr>
      <vt:lpstr>5.1 Identificación</vt:lpstr>
      <vt:lpstr>5.1 Identificación</vt:lpstr>
      <vt:lpstr>Muchas gracias por la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alberto gonzalez martinez</dc:creator>
  <cp:lastModifiedBy>alberto gonzalez martinez</cp:lastModifiedBy>
  <cp:revision>51</cp:revision>
  <dcterms:created xsi:type="dcterms:W3CDTF">2019-10-20T09:39:47Z</dcterms:created>
  <dcterms:modified xsi:type="dcterms:W3CDTF">2019-10-22T08:32:49Z</dcterms:modified>
</cp:coreProperties>
</file>