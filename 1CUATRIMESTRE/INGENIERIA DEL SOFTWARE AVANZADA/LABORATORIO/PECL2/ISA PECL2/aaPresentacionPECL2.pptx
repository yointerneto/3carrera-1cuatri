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1"/>
  </p:sldMasterIdLst>
  <p:notesMasterIdLst>
    <p:notesMasterId r:id="rId30"/>
  </p:notesMasterIdLst>
  <p:sldIdLst>
    <p:sldId id="256" r:id="rId2"/>
    <p:sldId id="257" r:id="rId3"/>
    <p:sldId id="258" r:id="rId4"/>
    <p:sldId id="262" r:id="rId5"/>
    <p:sldId id="267" r:id="rId6"/>
    <p:sldId id="263" r:id="rId7"/>
    <p:sldId id="272" r:id="rId8"/>
    <p:sldId id="264" r:id="rId9"/>
    <p:sldId id="286" r:id="rId10"/>
    <p:sldId id="265" r:id="rId11"/>
    <p:sldId id="268" r:id="rId12"/>
    <p:sldId id="269" r:id="rId13"/>
    <p:sldId id="266" r:id="rId14"/>
    <p:sldId id="273" r:id="rId15"/>
    <p:sldId id="259" r:id="rId16"/>
    <p:sldId id="274" r:id="rId17"/>
    <p:sldId id="276" r:id="rId18"/>
    <p:sldId id="275" r:id="rId19"/>
    <p:sldId id="277" r:id="rId20"/>
    <p:sldId id="260" r:id="rId21"/>
    <p:sldId id="270" r:id="rId22"/>
    <p:sldId id="271" r:id="rId23"/>
    <p:sldId id="261" r:id="rId24"/>
    <p:sldId id="282" r:id="rId25"/>
    <p:sldId id="285" r:id="rId26"/>
    <p:sldId id="283" r:id="rId27"/>
    <p:sldId id="284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544FD-8AD8-426B-BFE5-EE54300B5242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E5FEB-BDE0-4415-A700-98C954F199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8150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29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72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13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322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02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9987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73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321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556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833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41366CB-CAAC-4E58-B7FF-CA0612E1D46E}" type="datetimeFigureOut">
              <a:rPr lang="es-ES" smtClean="0"/>
              <a:t>25/11/2019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43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74247-FBBA-4B3B-8203-4D19EE6DF5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ES" sz="6600" dirty="0">
                <a:latin typeface="Calibri" panose="020F0502020204030204" pitchFamily="34" charset="0"/>
                <a:cs typeface="Calibri" panose="020F0502020204030204" pitchFamily="34" charset="0"/>
              </a:rPr>
              <a:t>INGENIERIA DEL SOFTWARE AVANZADA 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ITERACION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2D12DB-40CB-4016-8DA8-6DB18F3ADA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s-ES" dirty="0"/>
              <a:t>CTA </a:t>
            </a:r>
          </a:p>
          <a:p>
            <a:pPr algn="ctr"/>
            <a:r>
              <a:rPr lang="es-ES" dirty="0"/>
              <a:t>(comité técnico de árbitros)</a:t>
            </a:r>
          </a:p>
        </p:txBody>
      </p:sp>
    </p:spTree>
    <p:extLst>
      <p:ext uri="{BB962C8B-B14F-4D97-AF65-F5344CB8AC3E}">
        <p14:creationId xmlns:p14="http://schemas.microsoft.com/office/powerpoint/2010/main" val="429319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C05FB-2A59-4936-B14B-F6297D42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5400" dirty="0">
                <a:latin typeface="Calibri" panose="020F0502020204030204" pitchFamily="34" charset="0"/>
                <a:cs typeface="Calibri" panose="020F0502020204030204" pitchFamily="34" charset="0"/>
              </a:rPr>
              <a:t>INDICE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301146-E2F3-423D-A624-4C097A4FDCD6}"/>
              </a:ext>
            </a:extLst>
          </p:cNvPr>
          <p:cNvSpPr txBox="1"/>
          <p:nvPr/>
        </p:nvSpPr>
        <p:spPr>
          <a:xfrm>
            <a:off x="1143000" y="2265616"/>
            <a:ext cx="10271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CORRECCION DE LOS ARTEFACTOS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ARTEFACTO V+ (modelado casos de uso)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ARTEFACTO VI (modelado de datos)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ARTEFACTO VII (modelo de dominio)</a:t>
            </a:r>
          </a:p>
        </p:txBody>
      </p:sp>
    </p:spTree>
    <p:extLst>
      <p:ext uri="{BB962C8B-B14F-4D97-AF65-F5344CB8AC3E}">
        <p14:creationId xmlns:p14="http://schemas.microsoft.com/office/powerpoint/2010/main" val="63585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CE713-B1AA-46A7-B699-4D327ACD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1. CORRECCION DE LOS ARTEFACTOS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C6573E5-CCCD-4D78-A5A9-4FDD858BC41F}"/>
              </a:ext>
            </a:extLst>
          </p:cNvPr>
          <p:cNvSpPr txBox="1"/>
          <p:nvPr/>
        </p:nvSpPr>
        <p:spPr>
          <a:xfrm>
            <a:off x="1173480" y="1965959"/>
            <a:ext cx="1030317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1.1 Corrección del artefacto l</a:t>
            </a:r>
          </a:p>
          <a:p>
            <a:pPr lvl="1"/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1.2 Corrección del artefacto ll</a:t>
            </a:r>
          </a:p>
          <a:p>
            <a:pPr lvl="1"/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1.3 Corrección del artefacto </a:t>
            </a:r>
            <a:r>
              <a:rPr lang="es-ES" sz="24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lll</a:t>
            </a: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1.4 Corrección del artefacto </a:t>
            </a:r>
            <a:r>
              <a:rPr lang="es-ES" sz="24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lV</a:t>
            </a: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1.5 Corrección del artefacto V</a:t>
            </a: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este apartado vamos a mostrar los cambios más importantes que se han realizado en los artefactos de la iteración 1</a:t>
            </a:r>
          </a:p>
        </p:txBody>
      </p:sp>
    </p:spTree>
    <p:extLst>
      <p:ext uri="{BB962C8B-B14F-4D97-AF65-F5344CB8AC3E}">
        <p14:creationId xmlns:p14="http://schemas.microsoft.com/office/powerpoint/2010/main" val="232441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27628-385A-42F1-A5D1-5ABA1E19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1.1 Corrección del artefacto l (visión)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15BF37-843C-400D-9677-DB36EDA3377D}"/>
              </a:ext>
            </a:extLst>
          </p:cNvPr>
          <p:cNvSpPr txBox="1"/>
          <p:nvPr/>
        </p:nvSpPr>
        <p:spPr>
          <a:xfrm>
            <a:off x="1143000" y="1965960"/>
            <a:ext cx="103896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este apartado se han realizado algunos cambios y mejoras, las más importantes y reseñables son las siguientes: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Correo interno.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Opción de diferentes correos en función del motivo del correo.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Aula virtual, apartado con posibilidad de hacer exámenes y realizar diferentes funciones.</a:t>
            </a:r>
          </a:p>
        </p:txBody>
      </p:sp>
    </p:spTree>
    <p:extLst>
      <p:ext uri="{BB962C8B-B14F-4D97-AF65-F5344CB8AC3E}">
        <p14:creationId xmlns:p14="http://schemas.microsoft.com/office/powerpoint/2010/main" val="683945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4E064-5E25-4B8B-BD30-359ADB44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1.1 Corrección del artefacto l (visión)</a:t>
            </a:r>
            <a:endParaRPr lang="es-ES" sz="3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257DB84-A97C-45CA-AB2E-CDCC1CB2EABF}"/>
              </a:ext>
            </a:extLst>
          </p:cNvPr>
          <p:cNvSpPr txBox="1"/>
          <p:nvPr/>
        </p:nvSpPr>
        <p:spPr>
          <a:xfrm>
            <a:off x="1143000" y="1965960"/>
            <a:ext cx="10369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Además de añadir funcionalidades se ha modificado el modelo de contexto: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9CA518-1780-4BF6-9704-700136721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486" y="2612291"/>
            <a:ext cx="7021022" cy="387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7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F5E97-D7CF-4598-BBDC-75D39E1A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1.2 Corrección del artefacto ll (requisitos)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CEA27F-84D3-45E5-B9AB-A7C56696E850}"/>
              </a:ext>
            </a:extLst>
          </p:cNvPr>
          <p:cNvSpPr txBox="1"/>
          <p:nvPr/>
        </p:nvSpPr>
        <p:spPr>
          <a:xfrm>
            <a:off x="1143000" y="1965959"/>
            <a:ext cx="101111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Debido a los cambios realizadas en este artefacto, tenemos los siguientes requisitos: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- 30 funcionales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- 19 no funcionales de alternativa de coste bajo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- 17 no funcionales de alternativa de coste alto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Se han añadido varios requisitos, los más importantes de cada apartado son: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Seguridad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1.4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Los nombres y contraseñas de los usuarios serán únicos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7126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F7635-2B81-4B77-B3E4-9F1D679E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1.2 Corrección del artefacto ll (requisitos)</a:t>
            </a:r>
            <a:endParaRPr lang="es-ES" sz="3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6DADFD-A388-415D-90C0-C62333E9DBED}"/>
              </a:ext>
            </a:extLst>
          </p:cNvPr>
          <p:cNvSpPr txBox="1"/>
          <p:nvPr/>
        </p:nvSpPr>
        <p:spPr>
          <a:xfrm>
            <a:off x="1143000" y="1965960"/>
            <a:ext cx="100173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Hardware y software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2.3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El sistema instalado en los equipos de las distintas sedes deberá ser compatible con el 		sistema operativo de estos. 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Disponibilidad y rendimiento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3.1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Todas las funcionalidades deberán de realizarse y mostrar el resultado en menos de 5 		segundos.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Usabilidad y accesibilidad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4.4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El sistema deberá proporcionar mensajes de error informativos y orientados a los 			usuarios.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Otros 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5.2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El sistema cumplirá con la ley orgánica de protección de datos.</a:t>
            </a:r>
          </a:p>
        </p:txBody>
      </p:sp>
    </p:spTree>
    <p:extLst>
      <p:ext uri="{BB962C8B-B14F-4D97-AF65-F5344CB8AC3E}">
        <p14:creationId xmlns:p14="http://schemas.microsoft.com/office/powerpoint/2010/main" val="1859398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2ECBC-45B9-4055-A444-80B61B25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1.3 Corrección artefacto </a:t>
            </a:r>
            <a:r>
              <a:rPr lang="es-E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lll</a:t>
            </a:r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 (casos de uso)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BDB68B-9A6C-483F-ABF3-F5B6CDBEB5E8}"/>
              </a:ext>
            </a:extLst>
          </p:cNvPr>
          <p:cNvPicPr/>
          <p:nvPr/>
        </p:nvPicPr>
        <p:blipFill rotWithShape="1">
          <a:blip r:embed="rId2"/>
          <a:srcRect b="72464"/>
          <a:stretch/>
        </p:blipFill>
        <p:spPr>
          <a:xfrm>
            <a:off x="324445" y="1965959"/>
            <a:ext cx="11543109" cy="441169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D8DA92-E25C-4287-B6C8-773D1FC61D8E}"/>
              </a:ext>
            </a:extLst>
          </p:cNvPr>
          <p:cNvSpPr txBox="1"/>
          <p:nvPr/>
        </p:nvSpPr>
        <p:spPr>
          <a:xfrm>
            <a:off x="1143000" y="1965960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Empleado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091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08373-E8A8-4B24-95D2-5F2670E3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1.3 Corrección artefacto </a:t>
            </a:r>
            <a:r>
              <a:rPr lang="es-E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lll</a:t>
            </a:r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 (casos de uso)</a:t>
            </a:r>
            <a:endParaRPr lang="es-ES" sz="3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37026D-CCDD-4E6B-9782-471877731D29}"/>
              </a:ext>
            </a:extLst>
          </p:cNvPr>
          <p:cNvPicPr/>
          <p:nvPr/>
        </p:nvPicPr>
        <p:blipFill rotWithShape="1">
          <a:blip r:embed="rId2"/>
          <a:srcRect l="44137" t="26217" b="42121"/>
          <a:stretch/>
        </p:blipFill>
        <p:spPr>
          <a:xfrm>
            <a:off x="995422" y="1620456"/>
            <a:ext cx="9734310" cy="485910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F19C49F-5411-4C48-AC96-5358CB43D990}"/>
              </a:ext>
            </a:extLst>
          </p:cNvPr>
          <p:cNvSpPr txBox="1"/>
          <p:nvPr/>
        </p:nvSpPr>
        <p:spPr>
          <a:xfrm>
            <a:off x="1143000" y="1965960"/>
            <a:ext cx="1309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Árbitro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93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D0F15-9B67-4EB8-AB2C-63E8203AB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1.4 Corrección del artefacto </a:t>
            </a:r>
            <a:r>
              <a:rPr lang="es-E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lV</a:t>
            </a:r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 (modelo de dominio)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97B583B-576E-4D55-A138-8EAB47A605BD}"/>
              </a:ext>
            </a:extLst>
          </p:cNvPr>
          <p:cNvSpPr txBox="1"/>
          <p:nvPr/>
        </p:nvSpPr>
        <p:spPr>
          <a:xfrm>
            <a:off x="1173480" y="1965959"/>
            <a:ext cx="100337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el apartado del modelo de dominio, se han añadido nuevas entidades y relaciones además de suprimir otras: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Creación de nuevas entidades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SancionArbitro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SancionJugador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SancionEquipo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SancionAutomatica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1ABF2D-23A3-40B0-A463-D21FA78EA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997284"/>
            <a:ext cx="5095875" cy="133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405BA4F-5E90-40F0-9DE2-BFB348DAD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288" y="4047473"/>
            <a:ext cx="2895600" cy="1219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4DCBAE0-5CD3-45CE-8487-0EF586CFE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112" y="3859538"/>
            <a:ext cx="23431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4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5F63B-3BF2-44D7-BAB3-0C789F9C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1.4 Corrección del artefacto </a:t>
            </a:r>
            <a:r>
              <a:rPr lang="es-E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lV</a:t>
            </a:r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 (modelo de dominio)</a:t>
            </a:r>
            <a:endParaRPr lang="es-ES" sz="3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919259-4299-4047-9EAB-F09242768B5C}"/>
              </a:ext>
            </a:extLst>
          </p:cNvPr>
          <p:cNvSpPr txBox="1"/>
          <p:nvPr/>
        </p:nvSpPr>
        <p:spPr>
          <a:xfrm>
            <a:off x="1143000" y="2145322"/>
            <a:ext cx="10310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Creación de otras entidades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BajaArbitro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Sede Empleado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Categoria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Jornada Usuario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BDDB01-A5AC-4D9E-85AD-B8F5EC6A1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97" y="3178467"/>
            <a:ext cx="2381250" cy="10858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1D68BCF-4339-4F5C-B297-70286EEB9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63" y="3019273"/>
            <a:ext cx="2600325" cy="15049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C86960D-3C54-422B-B89F-F0D0FC90D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093" y="4572100"/>
            <a:ext cx="2362200" cy="14478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817DE11-007E-484A-9487-FEE71B963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243" y="4404846"/>
            <a:ext cx="3371850" cy="1676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60D92A2-9716-4113-923A-3046D1955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732" y="2971015"/>
            <a:ext cx="2343150" cy="1333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8EAFA20-6B31-491A-ACAA-A902740BCF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6134" y="4738221"/>
            <a:ext cx="29337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8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37144-3F93-4012-BB04-E326954F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1.4 Corrección del </a:t>
            </a:r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artefacto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lV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(modelo de dominio)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D3EE3D-F43A-4A69-9304-0CF568180EC3}"/>
              </a:ext>
            </a:extLst>
          </p:cNvPr>
          <p:cNvSpPr txBox="1"/>
          <p:nvPr/>
        </p:nvSpPr>
        <p:spPr>
          <a:xfrm>
            <a:off x="1143000" y="2274277"/>
            <a:ext cx="102518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Eliminación de tablas errónea N:N Datos-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PartidosJugador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y Liga-Arbitro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Eliminación atributos innecesarios en Acta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Cdo_EquipoVisitante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Cdo_EquipoLocal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ACF6FF-A56E-4707-8012-76F94E0CD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277" y="3340572"/>
            <a:ext cx="7303477" cy="321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59F9C-F14F-458C-9B7C-2FFE046F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1.5 Corrección artefacto V (modelado de casos de uso)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89E8C6-6393-4A89-A8D5-76D265BAC603}"/>
              </a:ext>
            </a:extLst>
          </p:cNvPr>
          <p:cNvSpPr txBox="1"/>
          <p:nvPr/>
        </p:nvSpPr>
        <p:spPr>
          <a:xfrm>
            <a:off x="1143000" y="2168768"/>
            <a:ext cx="102283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este apartado, las partes corregidas y añadidas han sido las siguiente: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Se han añadido los diagramas de actividad en un formato correcto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Se han añadido nuevos casos de uso importantes como la comunicación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	- Se han corregido errores en la formulación de las pre y post condiciones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Se han corregido los escenarios principales y excepcionales de algunos casos de uso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A continuación veremos las correcciones de dos casos de uso consulta datos federación y realización de actas</a:t>
            </a:r>
          </a:p>
        </p:txBody>
      </p:sp>
    </p:spTree>
    <p:extLst>
      <p:ext uri="{BB962C8B-B14F-4D97-AF65-F5344CB8AC3E}">
        <p14:creationId xmlns:p14="http://schemas.microsoft.com/office/powerpoint/2010/main" val="1585211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C5D8A-A96C-4490-83F3-8B2217DB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1.5 Corrección artefacto V (modelado de casos de uso)</a:t>
            </a:r>
            <a:endParaRPr lang="es-ES" sz="3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58CF9D-8C9A-4C4C-9D97-362DCCC0FFE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08" y="2275523"/>
            <a:ext cx="5468620" cy="1197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FD76C49-93CB-4556-ACE4-B4BA5E20EDC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08" y="3799939"/>
            <a:ext cx="5468620" cy="229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1AEB79B-DC23-422D-AD15-13E63A7132E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062" y="2275523"/>
            <a:ext cx="5563870" cy="1197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ADDAA26-5D0F-4209-87FB-00EF6E833FB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062" y="3878044"/>
            <a:ext cx="5563870" cy="22136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2036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48A2B-00E2-4914-865A-1A0EBB32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2. MODELADO DE CASOS DE USO EXTENDIDO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135DC3-4653-46A8-ABC0-042D88367DD7}"/>
              </a:ext>
            </a:extLst>
          </p:cNvPr>
          <p:cNvSpPr txBox="1"/>
          <p:nvPr/>
        </p:nvSpPr>
        <p:spPr>
          <a:xfrm>
            <a:off x="1143000" y="2285999"/>
            <a:ext cx="1035733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2.1 Consulta de datos personales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2.1.1 Descripción y </a:t>
            </a:r>
            <a:r>
              <a:rPr lang="es-ES" sz="24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pre-post</a:t>
            </a:r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condiciones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2.1.2 Escenarios</a:t>
            </a: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2.2 Consulta de goles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2.2.1 Descripción y </a:t>
            </a:r>
            <a:r>
              <a:rPr lang="es-ES" sz="24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pre-post</a:t>
            </a:r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condiciones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2.2.2 Escenarios</a:t>
            </a: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400" dirty="0">
                <a:latin typeface="Calibri" panose="020F0502020204030204" pitchFamily="34" charset="0"/>
                <a:cs typeface="Calibri" panose="020F0502020204030204" pitchFamily="34" charset="0"/>
              </a:rPr>
              <a:t>A continuación pasaremos a explicar 2 de los 30 casos de uso modelados en esta parte de la iteración 5</a:t>
            </a:r>
          </a:p>
        </p:txBody>
      </p:sp>
    </p:spTree>
    <p:extLst>
      <p:ext uri="{BB962C8B-B14F-4D97-AF65-F5344CB8AC3E}">
        <p14:creationId xmlns:p14="http://schemas.microsoft.com/office/powerpoint/2010/main" val="422280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4D0C6-E75E-492F-A5BA-CA695C44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2.1 Consulta de datos personales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8BBCE3-78B9-4F3B-9AB5-9951D6F87144}"/>
              </a:ext>
            </a:extLst>
          </p:cNvPr>
          <p:cNvSpPr txBox="1"/>
          <p:nvPr/>
        </p:nvSpPr>
        <p:spPr>
          <a:xfrm>
            <a:off x="1143000" y="1965960"/>
            <a:ext cx="105214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2.1.1 Descripción y </a:t>
            </a:r>
            <a:r>
              <a:rPr lang="es-ES" u="sng" dirty="0" err="1">
                <a:latin typeface="Calibri" panose="020F0502020204030204" pitchFamily="34" charset="0"/>
                <a:cs typeface="Calibri" panose="020F0502020204030204" pitchFamily="34" charset="0"/>
              </a:rPr>
              <a:t>pre-post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 condiciones</a:t>
            </a:r>
          </a:p>
          <a:p>
            <a:endParaRPr lang="es-ES" u="sng" dirty="0"/>
          </a:p>
          <a:p>
            <a:endParaRPr lang="es-ES" u="sng" dirty="0"/>
          </a:p>
          <a:p>
            <a:endParaRPr lang="es-ES" u="sng" dirty="0"/>
          </a:p>
          <a:p>
            <a:endParaRPr lang="es-ES" u="sng" dirty="0"/>
          </a:p>
        </p:txBody>
      </p:sp>
      <p:pic>
        <p:nvPicPr>
          <p:cNvPr id="4" name="Picture 417268055">
            <a:extLst>
              <a:ext uri="{FF2B5EF4-FFF2-40B4-BE49-F238E27FC236}">
                <a16:creationId xmlns:a16="http://schemas.microsoft.com/office/drawing/2014/main" id="{83F54088-73C7-47D7-B1D8-AC059402D49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804" y="2424407"/>
            <a:ext cx="6694391" cy="1352549"/>
          </a:xfrm>
          <a:prstGeom prst="rect">
            <a:avLst/>
          </a:prstGeom>
        </p:spPr>
      </p:pic>
      <p:pic>
        <p:nvPicPr>
          <p:cNvPr id="5" name="Picture 889358299">
            <a:extLst>
              <a:ext uri="{FF2B5EF4-FFF2-40B4-BE49-F238E27FC236}">
                <a16:creationId xmlns:a16="http://schemas.microsoft.com/office/drawing/2014/main" id="{01E4C014-D507-47AC-98EE-272C86FAD8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564" y="3901735"/>
            <a:ext cx="6694391" cy="251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54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F59B6-830F-4499-B609-2CEE01D6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2.1 Consulta de datos personales</a:t>
            </a:r>
            <a:endParaRPr lang="es-ES" sz="3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283103-D816-4CB9-B546-7D239EB8ABFD}"/>
              </a:ext>
            </a:extLst>
          </p:cNvPr>
          <p:cNvSpPr txBox="1"/>
          <p:nvPr/>
        </p:nvSpPr>
        <p:spPr>
          <a:xfrm>
            <a:off x="1143000" y="1965959"/>
            <a:ext cx="10357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2.1.2 Escenarios</a:t>
            </a:r>
          </a:p>
          <a:p>
            <a:endParaRPr lang="es-ES" u="sng" dirty="0"/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8B352A-890E-4ED4-94CE-9DFED07B8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352" y="2357285"/>
            <a:ext cx="7616680" cy="414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82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AF9E4-46EF-4014-A21B-5CCD74ED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2.2 Consulta goles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08746D-0C64-4F7E-9868-355027B82163}"/>
              </a:ext>
            </a:extLst>
          </p:cNvPr>
          <p:cNvSpPr txBox="1"/>
          <p:nvPr/>
        </p:nvSpPr>
        <p:spPr>
          <a:xfrm>
            <a:off x="1143000" y="1965960"/>
            <a:ext cx="105214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2.1.1 Descripción y </a:t>
            </a:r>
            <a:r>
              <a:rPr lang="es-ES" u="sng" dirty="0" err="1">
                <a:latin typeface="Calibri" panose="020F0502020204030204" pitchFamily="34" charset="0"/>
                <a:cs typeface="Calibri" panose="020F0502020204030204" pitchFamily="34" charset="0"/>
              </a:rPr>
              <a:t>pre-post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 condiciones</a:t>
            </a:r>
          </a:p>
          <a:p>
            <a:endParaRPr lang="es-ES" u="sng" dirty="0"/>
          </a:p>
          <a:p>
            <a:endParaRPr lang="es-ES" u="sng" dirty="0"/>
          </a:p>
          <a:p>
            <a:endParaRPr lang="es-ES" u="sng" dirty="0"/>
          </a:p>
          <a:p>
            <a:endParaRPr lang="es-ES" u="sng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6FDC99-FBE0-40CF-90F3-81998B6CA8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958" y="2357437"/>
            <a:ext cx="6448083" cy="1477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B145352-BEDE-43C7-87D1-8AE3A1E1F7C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958" y="3940662"/>
            <a:ext cx="6448083" cy="25890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9194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D3E92-3CEE-49CE-84E4-434ABFBD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2.2 Consulta goles</a:t>
            </a:r>
            <a:endParaRPr lang="es-ES" sz="3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BBC3F2-32B6-4F61-982D-E5B1A6E51AA5}"/>
              </a:ext>
            </a:extLst>
          </p:cNvPr>
          <p:cNvSpPr txBox="1"/>
          <p:nvPr/>
        </p:nvSpPr>
        <p:spPr>
          <a:xfrm>
            <a:off x="1143000" y="1965959"/>
            <a:ext cx="10357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2.1.2 Escenarios</a:t>
            </a:r>
          </a:p>
          <a:p>
            <a:endParaRPr lang="es-ES" u="sng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5461A7-84AF-4DD2-8044-B81F7CC4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757" y="2427624"/>
            <a:ext cx="6907824" cy="403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59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858FB-1163-4C43-9F80-633D14C8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3. MODELADO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2D8F08-94A8-4BA3-9570-D93AFCBA18E6}"/>
              </a:ext>
            </a:extLst>
          </p:cNvPr>
          <p:cNvSpPr txBox="1"/>
          <p:nvPr/>
        </p:nvSpPr>
        <p:spPr>
          <a:xfrm>
            <a:off x="1143000" y="1965960"/>
            <a:ext cx="101932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3.1 Diagrama de tablas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3.2 Otros elementos de almacenamiento</a:t>
            </a: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este apartado veremos el modelo físico generado mediante el software TOAD Data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Modeler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, además de los elementos de almacenamiento que queremos tener en el sistema</a:t>
            </a:r>
          </a:p>
        </p:txBody>
      </p:sp>
    </p:spTree>
    <p:extLst>
      <p:ext uri="{BB962C8B-B14F-4D97-AF65-F5344CB8AC3E}">
        <p14:creationId xmlns:p14="http://schemas.microsoft.com/office/powerpoint/2010/main" val="265722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B8D52-7D27-4D33-90E2-CA54160C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3.1 Diagrama de tablas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55AEB0-A983-41E1-AF17-56500E932D61}"/>
              </a:ext>
            </a:extLst>
          </p:cNvPr>
          <p:cNvSpPr txBox="1"/>
          <p:nvPr/>
        </p:nvSpPr>
        <p:spPr>
          <a:xfrm>
            <a:off x="1173480" y="1965959"/>
            <a:ext cx="101275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diagrama se ha generado automáticamente pero se han añadido alguno atributos:</a:t>
            </a:r>
          </a:p>
          <a:p>
            <a:r>
              <a:rPr lang="es-ES" dirty="0"/>
              <a:t>	</a:t>
            </a:r>
          </a:p>
          <a:p>
            <a:r>
              <a:rPr lang="es-ES" dirty="0"/>
              <a:t>	- Relación creada N:N </a:t>
            </a:r>
            <a:r>
              <a:rPr lang="es-ES" dirty="0" err="1"/>
              <a:t>Jugador_Acta</a:t>
            </a:r>
            <a:endParaRPr lang="es-ES" dirty="0"/>
          </a:p>
          <a:p>
            <a:r>
              <a:rPr lang="es-ES" dirty="0"/>
              <a:t>	atributos </a:t>
            </a:r>
            <a:r>
              <a:rPr lang="es-ES" dirty="0" err="1"/>
              <a:t>Minuto_Entrada</a:t>
            </a:r>
            <a:endParaRPr lang="es-ES" dirty="0"/>
          </a:p>
          <a:p>
            <a:r>
              <a:rPr lang="es-ES" dirty="0"/>
              <a:t>	</a:t>
            </a:r>
            <a:r>
              <a:rPr lang="es-ES" dirty="0" err="1"/>
              <a:t>Minuto_Salida</a:t>
            </a:r>
            <a:r>
              <a:rPr lang="es-ES" dirty="0"/>
              <a:t>, Goles, </a:t>
            </a:r>
            <a:r>
              <a:rPr lang="es-ES" dirty="0" err="1"/>
              <a:t>Tarjetas_Rojas</a:t>
            </a:r>
            <a:r>
              <a:rPr lang="es-ES" dirty="0"/>
              <a:t>,</a:t>
            </a:r>
          </a:p>
          <a:p>
            <a:r>
              <a:rPr lang="es-ES" dirty="0"/>
              <a:t>	</a:t>
            </a:r>
            <a:r>
              <a:rPr lang="es-ES" dirty="0" err="1"/>
              <a:t>Tarjetas_Amarillas</a:t>
            </a:r>
            <a:endParaRPr lang="es-ES" dirty="0"/>
          </a:p>
          <a:p>
            <a:endParaRPr lang="es-ES" dirty="0"/>
          </a:p>
          <a:p>
            <a:r>
              <a:rPr lang="es-ES" dirty="0"/>
              <a:t>	- Relación N:N </a:t>
            </a:r>
            <a:r>
              <a:rPr lang="es-ES" dirty="0" err="1"/>
              <a:t>Partido_Arbitro</a:t>
            </a:r>
            <a:endParaRPr lang="es-ES" dirty="0"/>
          </a:p>
          <a:p>
            <a:r>
              <a:rPr lang="es-ES" dirty="0"/>
              <a:t>	atributo </a:t>
            </a:r>
            <a:r>
              <a:rPr lang="es-ES" dirty="0" err="1"/>
              <a:t>Puesto_Arbitro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79A161-1D26-4649-B292-B2ECB2F81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944" y="2344615"/>
            <a:ext cx="6494471" cy="42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66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C7F85-5EC9-4162-8FAE-1C916CEC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3.2 Otros sistemas de almacenamiento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3A13AC-2CA3-402C-8D9C-E33DC5A180D1}"/>
              </a:ext>
            </a:extLst>
          </p:cNvPr>
          <p:cNvSpPr txBox="1"/>
          <p:nvPr/>
        </p:nvSpPr>
        <p:spPr>
          <a:xfrm>
            <a:off x="1143000" y="1965960"/>
            <a:ext cx="102283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Hay varios sistemas de almacenamiento en este caso nos centraremos en calendario de los partidos de las diferentes ligas: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Formato Excel</a:t>
            </a:r>
          </a:p>
          <a:p>
            <a:r>
              <a:rPr lang="es-ES" dirty="0"/>
              <a:t>	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5BB6F9-28A5-442F-B3EF-A075CBD7B1F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226" y="2470736"/>
            <a:ext cx="6570712" cy="39769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7813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5E328-3797-4A61-AE59-81EBAF26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4. MODELO DE DOMINIO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96ECF71-6DAB-4375-B18D-A42E64B198DB}"/>
              </a:ext>
            </a:extLst>
          </p:cNvPr>
          <p:cNvSpPr txBox="1"/>
          <p:nvPr/>
        </p:nvSpPr>
        <p:spPr>
          <a:xfrm>
            <a:off x="1173480" y="1965959"/>
            <a:ext cx="1051342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4.1 Diagrama de clases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4.1.1 Explicación	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4.1.2 Diagrama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4.2 Diagrama de secuencia y colaboración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4.2.1 Realización de actas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4.2.2 Comunicación con árbitro</a:t>
            </a: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/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A continuación, pasaremos a explicar el diagrama de clases y los diagrama de colaboración y secuencia de los casos de usos realizados.</a:t>
            </a:r>
          </a:p>
        </p:txBody>
      </p:sp>
    </p:spTree>
    <p:extLst>
      <p:ext uri="{BB962C8B-B14F-4D97-AF65-F5344CB8AC3E}">
        <p14:creationId xmlns:p14="http://schemas.microsoft.com/office/powerpoint/2010/main" val="1238846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FDFEF-B3E3-440D-9482-F5AF4AEA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4.1 Diagrama de clases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AC76A5-DA6F-4241-B6B1-FC8DBC38602C}"/>
              </a:ext>
            </a:extLst>
          </p:cNvPr>
          <p:cNvSpPr txBox="1"/>
          <p:nvPr/>
        </p:nvSpPr>
        <p:spPr>
          <a:xfrm>
            <a:off x="1143000" y="1965959"/>
            <a:ext cx="103610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4.1.1 Explicación</a:t>
            </a:r>
          </a:p>
          <a:p>
            <a:endParaRPr lang="es-ES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- Compuestos por las clases del modelo de dominio y clase Fachada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- Clase Fachada combina o llama a métodos de otras clases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- Se compone también de: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Clases Interfaz de cada usuario: cada usuario una y otro general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Clases Controlador: recibe mensajes de la clase Interfaz y envía mensajes a las clases de dominio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96938" lvl="3"/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Se relacionan mediante las relaciones de dependencia correspondientes.</a:t>
            </a:r>
          </a:p>
        </p:txBody>
      </p:sp>
    </p:spTree>
    <p:extLst>
      <p:ext uri="{BB962C8B-B14F-4D97-AF65-F5344CB8AC3E}">
        <p14:creationId xmlns:p14="http://schemas.microsoft.com/office/powerpoint/2010/main" val="1879849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3CDAF-FC2C-4E52-9202-279DFDE8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4.1 Diagrama de clases</a:t>
            </a:r>
            <a:endParaRPr lang="es-ES" sz="3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F1B7D1-AA83-4DF7-B6E4-0FA23B370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806" y="1645104"/>
            <a:ext cx="8175172" cy="489503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A96546F-C6DA-4525-9171-76128B27B0EC}"/>
              </a:ext>
            </a:extLst>
          </p:cNvPr>
          <p:cNvSpPr txBox="1"/>
          <p:nvPr/>
        </p:nvSpPr>
        <p:spPr>
          <a:xfrm>
            <a:off x="1173480" y="1965960"/>
            <a:ext cx="9947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4.1.2 Diagrama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092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08D92-A004-431A-8E76-6D2EABC3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4.2 Diagrama de secuencia y colaboración</a:t>
            </a:r>
            <a:endParaRPr lang="es-ES" sz="3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E0715B-A0F6-472C-952E-D41530362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2" y="2603039"/>
            <a:ext cx="4724422" cy="383934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C564DA4-FB83-4A71-ACD8-25EE346CA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318" y="3209778"/>
            <a:ext cx="5771205" cy="283462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0FB26F1-9875-45DF-BD77-2010E8A6705A}"/>
              </a:ext>
            </a:extLst>
          </p:cNvPr>
          <p:cNvSpPr txBox="1"/>
          <p:nvPr/>
        </p:nvSpPr>
        <p:spPr>
          <a:xfrm>
            <a:off x="1173480" y="1965960"/>
            <a:ext cx="678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4.2.1 Realización de acta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942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BF67E-2572-4AF1-A432-575F97E8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4.2 Diagrama de secuencia y colaboración</a:t>
            </a:r>
            <a:endParaRPr lang="es-ES" sz="3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98A20B-3FB8-4202-BBAC-ED7310C4C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191" y="3429000"/>
            <a:ext cx="5872821" cy="185403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FE543B5-3518-402B-A57E-D3701EA2D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88" y="2591112"/>
            <a:ext cx="3990075" cy="389055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10D040E-4535-4974-A474-9D50B78D31CB}"/>
              </a:ext>
            </a:extLst>
          </p:cNvPr>
          <p:cNvSpPr txBox="1"/>
          <p:nvPr/>
        </p:nvSpPr>
        <p:spPr>
          <a:xfrm>
            <a:off x="1173480" y="1965960"/>
            <a:ext cx="794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4.2.2 Comunicación con árbitro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74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B601EEA-991E-4820-BF74-9E31BA103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Muchas gracias por la atención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DC63A7A-229F-46C2-82D2-03F26CEE78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5400" dirty="0">
                <a:latin typeface="Calibri" panose="020F0502020204030204" pitchFamily="34" charset="0"/>
                <a:cs typeface="Calibri" panose="020F0502020204030204" pitchFamily="34" charset="0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02614918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2288</TotalTime>
  <Words>375</Words>
  <Application>Microsoft Office PowerPoint</Application>
  <PresentationFormat>Panorámica</PresentationFormat>
  <Paragraphs>173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Corbel</vt:lpstr>
      <vt:lpstr>Base</vt:lpstr>
      <vt:lpstr>INGENIERIA DEL SOFTWARE AVANZADA  ITERACION 2</vt:lpstr>
      <vt:lpstr>INDICE</vt:lpstr>
      <vt:lpstr>1. CORRECCION DE LOS ARTEFACTOS</vt:lpstr>
      <vt:lpstr>1.1 Corrección del artefacto l (visión)</vt:lpstr>
      <vt:lpstr>1.1 Corrección del artefacto l (visión)</vt:lpstr>
      <vt:lpstr>1.2 Corrección del artefacto ll (requisitos)</vt:lpstr>
      <vt:lpstr>1.2 Corrección del artefacto ll (requisitos)</vt:lpstr>
      <vt:lpstr>1.3 Corrección artefacto lll (casos de uso)</vt:lpstr>
      <vt:lpstr>1.3 Corrección artefacto lll (casos de uso)</vt:lpstr>
      <vt:lpstr>1.4 Corrección del artefacto lV (modelo de dominio)</vt:lpstr>
      <vt:lpstr>1.4 Corrección del artefacto lV (modelo de dominio)</vt:lpstr>
      <vt:lpstr>1.4 Corrección del artefacto lV (modelo de dominio)</vt:lpstr>
      <vt:lpstr>1.5 Corrección artefacto V (modelado de casos de uso)</vt:lpstr>
      <vt:lpstr>1.5 Corrección artefacto V (modelado de casos de uso)</vt:lpstr>
      <vt:lpstr>2. MODELADO DE CASOS DE USO EXTENDIDO</vt:lpstr>
      <vt:lpstr>2.1 Consulta de datos personales</vt:lpstr>
      <vt:lpstr>2.1 Consulta de datos personales</vt:lpstr>
      <vt:lpstr>2.2 Consulta goles</vt:lpstr>
      <vt:lpstr>2.2 Consulta goles</vt:lpstr>
      <vt:lpstr>3. MODELADO DE DATOS</vt:lpstr>
      <vt:lpstr>3.1 Diagrama de tablas</vt:lpstr>
      <vt:lpstr>3.2 Otros sistemas de almacenamiento</vt:lpstr>
      <vt:lpstr>4. MODELO DE DOMINIO</vt:lpstr>
      <vt:lpstr>4.1 Diagrama de clases</vt:lpstr>
      <vt:lpstr>4.1 Diagrama de clases</vt:lpstr>
      <vt:lpstr>4.2 Diagrama de secuencia y colaboración</vt:lpstr>
      <vt:lpstr>4.2 Diagrama de secuencia y colaboración</vt:lpstr>
      <vt:lpstr>Muchas gracias por la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alberto gonzalez martinez</dc:creator>
  <cp:lastModifiedBy>alberto gonzalez martinez</cp:lastModifiedBy>
  <cp:revision>99</cp:revision>
  <dcterms:created xsi:type="dcterms:W3CDTF">2019-10-20T09:39:47Z</dcterms:created>
  <dcterms:modified xsi:type="dcterms:W3CDTF">2019-11-25T18:15:43Z</dcterms:modified>
</cp:coreProperties>
</file>